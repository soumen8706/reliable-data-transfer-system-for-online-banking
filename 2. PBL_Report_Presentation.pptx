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Iqbal" userId="9f01ea2940fc7a51" providerId="LiveId" clId="{75AE2575-E543-4E72-92C3-16A0B0B60120}"/>
    <pc:docChg chg="undo custSel modSld">
      <pc:chgData name="Kashif Iqbal" userId="9f01ea2940fc7a51" providerId="LiveId" clId="{75AE2575-E543-4E72-92C3-16A0B0B60120}" dt="2026-09-30T11:01:57.750" v="24" actId="20577"/>
      <pc:docMkLst>
        <pc:docMk/>
      </pc:docMkLst>
      <pc:sldChg chg="delSp modSp mod">
        <pc:chgData name="Kashif Iqbal" userId="9f01ea2940fc7a51" providerId="LiveId" clId="{75AE2575-E543-4E72-92C3-16A0B0B60120}" dt="2026-09-30T10:59:33.609" v="15" actId="478"/>
        <pc:sldMkLst>
          <pc:docMk/>
          <pc:sldMk cId="0" sldId="257"/>
        </pc:sldMkLst>
        <pc:spChg chg="del">
          <ac:chgData name="Kashif Iqbal" userId="9f01ea2940fc7a51" providerId="LiveId" clId="{75AE2575-E543-4E72-92C3-16A0B0B60120}" dt="2026-09-30T10:58:14.096" v="0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Kashif Iqbal" userId="9f01ea2940fc7a51" providerId="LiveId" clId="{75AE2575-E543-4E72-92C3-16A0B0B60120}" dt="2026-09-30T10:58:24.256" v="2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8:31.330" v="3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8:35.235" v="4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8:40.296" v="5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8:48.458" v="6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8:53.159" v="7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00.443" v="8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05.187" v="9" actId="47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08.998" v="10" actId="478"/>
          <ac:spMkLst>
            <pc:docMk/>
            <pc:sldMk cId="0" sldId="257"/>
            <ac:spMk id="5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14.958" v="11" actId="478"/>
          <ac:spMkLst>
            <pc:docMk/>
            <pc:sldMk cId="0" sldId="257"/>
            <ac:spMk id="5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18.859" v="12" actId="478"/>
          <ac:spMkLst>
            <pc:docMk/>
            <pc:sldMk cId="0" sldId="257"/>
            <ac:spMk id="6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23.356" v="13" actId="478"/>
          <ac:spMkLst>
            <pc:docMk/>
            <pc:sldMk cId="0" sldId="257"/>
            <ac:spMk id="6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27.390" v="14" actId="478"/>
          <ac:spMkLst>
            <pc:docMk/>
            <pc:sldMk cId="0" sldId="257"/>
            <ac:spMk id="73" creationId="{00000000-0000-0000-0000-000000000000}"/>
          </ac:spMkLst>
        </pc:spChg>
        <pc:spChg chg="del">
          <ac:chgData name="Kashif Iqbal" userId="9f01ea2940fc7a51" providerId="LiveId" clId="{75AE2575-E543-4E72-92C3-16A0B0B60120}" dt="2026-09-30T10:59:33.609" v="15" actId="478"/>
          <ac:spMkLst>
            <pc:docMk/>
            <pc:sldMk cId="0" sldId="257"/>
            <ac:spMk id="78" creationId="{00000000-0000-0000-0000-000000000000}"/>
          </ac:spMkLst>
        </pc:spChg>
      </pc:sldChg>
      <pc:sldChg chg="addSp delSp modSp mod">
        <pc:chgData name="Kashif Iqbal" userId="9f01ea2940fc7a51" providerId="LiveId" clId="{75AE2575-E543-4E72-92C3-16A0B0B60120}" dt="2026-09-30T11:00:35.562" v="23" actId="478"/>
        <pc:sldMkLst>
          <pc:docMk/>
          <pc:sldMk cId="0" sldId="258"/>
        </pc:sldMkLst>
        <pc:spChg chg="del">
          <ac:chgData name="Kashif Iqbal" userId="9f01ea2940fc7a51" providerId="LiveId" clId="{75AE2575-E543-4E72-92C3-16A0B0B60120}" dt="2026-09-30T10:59:51.105" v="16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Kashif Iqbal" userId="9f01ea2940fc7a51" providerId="LiveId" clId="{75AE2575-E543-4E72-92C3-16A0B0B60120}" dt="2026-09-30T11:00:01.037" v="17" actId="478"/>
          <ac:spMkLst>
            <pc:docMk/>
            <pc:sldMk cId="0" sldId="258"/>
            <ac:spMk id="11" creationId="{00000000-0000-0000-0000-000000000000}"/>
          </ac:spMkLst>
        </pc:spChg>
        <pc:spChg chg="add del mod">
          <ac:chgData name="Kashif Iqbal" userId="9f01ea2940fc7a51" providerId="LiveId" clId="{75AE2575-E543-4E72-92C3-16A0B0B60120}" dt="2026-09-30T11:00:35.562" v="23" actId="478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Kashif Iqbal" userId="9f01ea2940fc7a51" providerId="LiveId" clId="{75AE2575-E543-4E72-92C3-16A0B0B60120}" dt="2026-09-30T11:00:31.717" v="21" actId="207"/>
        <pc:sldMkLst>
          <pc:docMk/>
          <pc:sldMk cId="0" sldId="259"/>
        </pc:sldMkLst>
        <pc:spChg chg="mod">
          <ac:chgData name="Kashif Iqbal" userId="9f01ea2940fc7a51" providerId="LiveId" clId="{75AE2575-E543-4E72-92C3-16A0B0B60120}" dt="2026-09-30T11:00:31.717" v="21" actId="20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Kashif Iqbal" userId="9f01ea2940fc7a51" providerId="LiveId" clId="{75AE2575-E543-4E72-92C3-16A0B0B60120}" dt="2026-09-30T11:01:57.750" v="24" actId="20577"/>
        <pc:sldMkLst>
          <pc:docMk/>
          <pc:sldMk cId="0" sldId="271"/>
        </pc:sldMkLst>
        <pc:spChg chg="mod">
          <ac:chgData name="Kashif Iqbal" userId="9f01ea2940fc7a51" providerId="LiveId" clId="{75AE2575-E543-4E72-92C3-16A0B0B60120}" dt="2026-09-30T11:01:57.750" v="24" actId="20577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08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097280" cy="88148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5544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Reliable: Data Transfer for Online Banking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2918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BTD50112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 – Cyber Security &amp; Data Science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Brainware University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846320" y="41148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74920" y="594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43000"/>
          <a:ext cx="338328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Kashif Iqbal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BWU/BTD/24/068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Soumen Jana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BWU/BTD/24/073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Soumen 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BWU/BTD/24/074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Sudipta 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BWU/BTD/24/079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Ghosh Gope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BWU/BTD/24/123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1208" y="122072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1208" y="12207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18872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36776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208" y="16687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" y="16687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163677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Goal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84832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" y="2116836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" y="21168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08483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Transfer Works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532888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1208" y="2564892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" y="2564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253288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Cisco Packet Tracer Network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980944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21208" y="301294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21208" y="3012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" y="298094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Plan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429000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1208" y="34610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1208" y="34610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342900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&amp; WAN Configuration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877056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21208" y="390906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21208" y="39090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60120" y="387705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Routing Configuration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325112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21208" y="4357116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1208" y="43571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60120" y="432511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 for OSPF Simulation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1188720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27448" y="122072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727448" y="12207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166360" y="118872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Verification &amp; End-Device Configuration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663440" y="1636776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727448" y="16687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727448" y="16687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5166360" y="163677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Testing &amp; Results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663440" y="2084832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727448" y="2116836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727448" y="21168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5166360" y="2084832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Problem: CRC Calculation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663440" y="2532888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27448" y="2564892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727448" y="2564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5166360" y="253288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CRC Check &amp; Error Demonstration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4663440" y="2980944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27448" y="301294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727448" y="3012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5166360" y="298094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Security Integration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4663440" y="3429000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727448" y="346100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727448" y="34610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166360" y="342900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4663440" y="3877056"/>
            <a:ext cx="40233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727448" y="390906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727448" y="39090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5166360" y="387705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Reliable Data Matters in Online Banking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communication system that transmits sensitive banking data accurately, securely, and without loss or corruption.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 carries critical information: account details, transaction amounts, and authentication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detection, acknowledgements, retransmission, and reliable transfer protocols ensure the receiver gets correct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data integrity, transaction reliability, and secure communication.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&amp; Our Goal: A Reliable Multi-Site Banking Network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53312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moves between the Head Office, banking servers, and branch offices.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needs reliable communication, proper separation, dynamic routing, and secure transfer.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single-area OSPF design is divided into multiple areas to represent a larger, organized network.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353312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745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simulate a reliable multi-site banking network in Cisco Packet Tracer.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0 for the Head Office, Area 10 for Banking Site A, Area 20 for Banking Site B.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logically separate the banking networks, and WAN links connect the sites.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CRC for error detection, TCP for reliable delivery, and TLS for secure communication.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Technologies, One Reliable Network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69848" y="146304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CRC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42316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transmission errors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21408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34056" y="146304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34056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121408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231136" y="242316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reliable data delivery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85616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98264" y="146304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98264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785616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242316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finds routes between banking areas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49824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62472" y="146304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6247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49824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VLANs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559552" y="242316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network traffic logically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14032" y="128016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26680" y="146304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2668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114032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242316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banking data through secure communication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improve reliability, organization, and security.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Blueprint: Three Sites, Three OSPF Areas</a:t>
            </a:r>
            <a:endParaRPr lang="en-US" sz="2200" dirty="0"/>
          </a:p>
        </p:txBody>
      </p:sp>
      <p:pic>
        <p:nvPicPr>
          <p:cNvPr id="4" name="Image 1" descr="/mnt/user-data/uploads/179074933425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143000"/>
            <a:ext cx="7315200" cy="341057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Office connects to Branch A and Branch B through WAN links, with OSPF areas and VLANs organizing each banking site.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Blueprint: Networks, Areas &amp; VLANs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0848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Office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Site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Server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Site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Server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R0–R1 WAN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R0–R2 WAN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20.0.0.0/30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4747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347472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 → Banking Site 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20 → Banking Site B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30 → Head Office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Roles &amp; WAN Links: R0, R1 and R2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298448"/>
            <a:ext cx="2432304" cy="502920"/>
          </a:xfrm>
          <a:prstGeom prst="roundRect">
            <a:avLst>
              <a:gd name="adj" fmla="val 10909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2984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R0: Head Office Router / ABR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 G0/0/0 → 192.168.1.1/24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to R1: S0/1/0 → 10.0.0.1/30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to R2: S0/1/1 → 20.0.0.1/30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Role: Area Border Router (ABR)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Areas: Area 0, Area 10 and Area 20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DCE: S0/1/0 → Clock rate 2000000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55848" y="1298448"/>
            <a:ext cx="2432304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12984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Branch A Router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 G0/0/0 → 192.168.2.1/24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to R0: S0/1/0 → 10.0.0.2/30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Area: Area 10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VLAN: VLAN 10 (Banking 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DCE: S0/1/0 → Clock rate 2000000 (only if this side is DCE)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118872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298448"/>
            <a:ext cx="2432304" cy="502920"/>
          </a:xfrm>
          <a:prstGeom prst="roundRect">
            <a:avLst>
              <a:gd name="adj" fmla="val 10909"/>
            </a:avLst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12984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Branch B Router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LAN: G0/0/0 → 192.168.3.1/24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to R0: S0/1/0 → 20.0.0.2/30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Area: Area 20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VLAN: VLAN 20 (Banking B)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DCE: S0/1/0 → Clock rate 2000000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Routing: Multi-Area OSPF Configuration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R0: Head Office / ABR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ospf 1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router-id 1.1.1.1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192.168.1.0 0.0.0.255 area 0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10.0.0.0 0.0.0.3 area 10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20.0.0.0 0.0.0.3 area 20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connects all three OSPF areas and acts as the Area Border Router (ABR).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R1: Branch 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46120" y="1645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3756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ospf 1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router-id 2.2.2.2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192.168.2.0 0.0.0.255 area 10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10.0.0.0 0.0.0.3 area 10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operates completely within OSPF Area 10.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R2: Branch B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035040" y="16459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26480" y="1645920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ospf 1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router-id 3.3.3.3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192.168.3.0 0.0.0.255 area 20</a:t>
            </a:r>
            <a:endParaRPr lang="en-US" sz="8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20.0.0.0 0.0.0.3 area 20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35040" y="342900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operates completely within OSPF Area 20.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Configuration: OSPF CLI Commands in Packet Tracer</a:t>
            </a:r>
            <a:endParaRPr lang="en-US" sz="2200" dirty="0"/>
          </a:p>
        </p:txBody>
      </p:sp>
      <p:pic>
        <p:nvPicPr>
          <p:cNvPr id="4" name="Image 1" descr="/mnt/user-data/uploads/Router0_Multi_Area_OSPF_Fin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80160"/>
            <a:ext cx="2255611" cy="2560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31920"/>
            <a:ext cx="22556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Router0: Head Office / ABR</a:t>
            </a:r>
            <a:endParaRPr lang="en-US" sz="1200" dirty="0"/>
          </a:p>
        </p:txBody>
      </p:sp>
      <p:pic>
        <p:nvPicPr>
          <p:cNvPr id="6" name="Image 2" descr="/mnt/user-data/uploads/Router1_Multi_Area_OSPF_Fina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95691" y="1280160"/>
            <a:ext cx="2790557" cy="2560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895691" y="3931920"/>
            <a:ext cx="2790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Router1: Branch A</a:t>
            </a:r>
            <a:endParaRPr lang="en-US" sz="1200" dirty="0"/>
          </a:p>
        </p:txBody>
      </p:sp>
      <p:pic>
        <p:nvPicPr>
          <p:cNvPr id="8" name="Image 3" descr="/mnt/user-data/uploads/Router2_Multi_Area_OSPF_Fina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69128" y="1280160"/>
            <a:ext cx="2790557" cy="2560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869128" y="3931920"/>
            <a:ext cx="27905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Router2: Branch 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It Works: OSPF Verification &amp; End-Device Setup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 Verification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79222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ospf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the OSPF process details, including router ID, area assignments, router type such as ABR, timers, and overall routing process status.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ospf neighbor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all adjacent OSPF routers, showing their router IDs, neighbor states such as FULL, priority, dead timers, and connecting interfaces.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ospf interface brief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Summarizes every OSPF-enabled interface with its process ID, area, IP address, link cost, current state, and neighbor count.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route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routing table, including connected, local, and OSPF-learned routes marked with the letter O, along with next-hop addresses.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End-Device Configuration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102412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Server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Server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Results: Every Link Reachable, Zero Loss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468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 → R1 WAN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5/5,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 reachable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 → R2 WAN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20.0.0.2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5/5, 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 reachable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Manager → Branch A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4/4, 0%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LAN reachable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Manager → Branch B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4/4, 0%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LAN reachable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 Manager → Branch B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192.168.3.40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4/4, 0%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Inter-branch routing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1417320" y="3794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tests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24612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38328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3794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 on LAN tests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17220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9"/>
          <p:cNvSpPr txBox="1"/>
          <p:nvPr/>
        </p:nvSpPr>
        <p:spPr>
          <a:xfrm>
            <a:off x="6995160" y="3794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connected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CRC: Step-by-Step Calculation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1101011011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2560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+ 4 zeros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11010110110000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is 5 bits, so 4 zeros are appended.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6576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remainder: </a:t>
            </a:r>
            <a:r>
              <a:rPr lang="en-US" sz="1300" b="1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1110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Codeword: </a:t>
            </a:r>
            <a:r>
              <a:rPr lang="en-US" sz="1300" b="1" dirty="0">
                <a:solidFill>
                  <a:srgbClr val="0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11010110111110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188720"/>
          <a:ext cx="5257800" cy="336956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Divisor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Carried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 Check: Catching Errors with CRC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98448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1E7B4A"/>
          </a:solidFill>
          <a:ln w="12700">
            <a:solidFill>
              <a:srgbClr val="1E7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98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No error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Received: 11010110111110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Remainder: 0000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accepted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298448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2984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Bit error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 bit flipped: 11110110111110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Remainder: 1110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Rejected, retransmission requested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326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Codeword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11010110111110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11110110111110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a zero remainder means the data is intact; any non-zero remainder means corruption occurred. TCP then retransmits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Together: Reliability &amp; Security Integration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26187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61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1887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errors in transmitted data.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 Detection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81051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8105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17373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reliable and ordered delivery of data.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737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Reliable Delivery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2860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35915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3591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22860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between Area 0, Area 10, and Area 20.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22860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Dynamic Routing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8346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290779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9077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554480" y="28346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separates banking and management traffic.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2834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Network Segmentation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456432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456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33832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information through encrypted communication.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852160" y="3383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Secure Communication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outcome: accurate data, dependable delivery, efficient routing, organized traffic, and protected transactions across the Head Office and both branches.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0B2A4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reliable and secure online banking network using Cisco Packet Tracer.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Office and two branches are connected using multi-area OSPF, VLANs, and point-to-point WAN links.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provides error detection, TCP ensures reliable delivery, and TLS provides secure communication.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1673352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5196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branches with additional OSPF areas.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103120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519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redundancy with backup routers and links.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51960" y="2532888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5054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firewall and ACL configurations for sensitive resources.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251960" y="2962656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5196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9352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DHCP for automatic IP assignment.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51960" y="3392424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5196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monitoring tools to detect failures and performance issues.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51960" y="3822192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5196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VLANs for Accounts, IT, and Administration.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51960" y="4251960"/>
            <a:ext cx="292608" cy="29260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519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4224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VPN and advanced authentication for remote banking communication.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9074861439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2880"/>
            <a:ext cx="822960" cy="66111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28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Resources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1887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F. Kurose and K. W. Ross, Computer Networking: A Top-Down Approach, 8th ed. Pearson, 2021.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6916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6916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S. Tanenbaum and D. Wetherall, Computer Networks, 6th ed. Pearson, 2021.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945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1945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1945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Stallings, Data and Computer Communications, 10th ed. Pearson, 2013.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6974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6974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Eddy, Ed., “Transmission Control Protocol (TCP),” RFC 9293, IETF, 2022.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200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2004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Rescorla, “The Transport Layer Security (TLS) Protocol Version 1.3,” RFC 8446, IETF, 2018.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370332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7033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37033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Systems, Inc., “OSPF Configuration Guide,” Cisco IOS Documentation.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42062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42062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Academy, Cisco Packet Tracer, Cisco Systems.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1603</Words>
  <Application>Microsoft Office PowerPoint</Application>
  <PresentationFormat>On-screen Show (16:9)</PresentationFormat>
  <Paragraphs>371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Reliable Data Transfer System for Online Banking</dc:title>
  <dc:subject>PptxGenJS Presentation</dc:subject>
  <dc:creator>PptxGenJS</dc:creator>
  <cp:lastModifiedBy>Kashif Iqbal</cp:lastModifiedBy>
  <cp:revision>2</cp:revision>
  <dcterms:created xsi:type="dcterms:W3CDTF">2026-09-30T07:26:17Z</dcterms:created>
  <dcterms:modified xsi:type="dcterms:W3CDTF">2026-09-30T11:03:02Z</dcterms:modified>
</cp:coreProperties>
</file>